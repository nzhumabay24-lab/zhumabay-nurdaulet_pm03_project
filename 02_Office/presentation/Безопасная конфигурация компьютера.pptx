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Inter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616f1859-c793-4e36-9fdc-02073fbad0ca.fntdata" /><ns0:Relationship Id="rIdFont15" Type="http://schemas.openxmlformats.org/officeDocument/2006/relationships/font" Target="fonts/378fcad9-9e9d-4119-9f56-846af6a26f4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78527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34629"/>
            <a:ext cx="414932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ИНФОРМАЦИОННАЯ 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377529"/>
            <a:ext cx="8601075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Inter"/>
              </a:rPr>
              <a:t>Безопасная конфигурация компьютера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32770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Стандарты настройки рабочей станции, защита аппаратного обеспечения и предотвращение киберугроз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486025"/>
            <a:ext cx="5257800" cy="8191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495675"/>
            <a:ext cx="5257800" cy="8191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505325"/>
            <a:ext cx="5257800" cy="8191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486025"/>
            <a:ext cx="38100" cy="819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495675"/>
            <a:ext cx="38100" cy="819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505325"/>
            <a:ext cx="38100" cy="819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90750"/>
            <a:ext cx="5257800" cy="3429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95575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05225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714875"/>
            <a:ext cx="1714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РАЗДЕЛ 01 • АППАРАТНЫЙ УРОВЕНЬ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Защита оборудования и драйверов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76525"/>
            <a:ext cx="6350793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Официальные источники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33700"/>
            <a:ext cx="6048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Загрузка ПО только с сайтов официальных производителей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686175"/>
            <a:ext cx="6350793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Контроль целостности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943350"/>
            <a:ext cx="6048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Блокировка сторонних утилит и несертифицированных драйверов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695825"/>
            <a:ext cx="6350793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Регулярные обновления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953000"/>
            <a:ext cx="6048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Устранение аппаратных уязвимостей и сбоев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75644"/>
            <a:ext cx="3505200" cy="2259062"/>
          </a:xfrm>
          <a:prstGeom prst="roundRect">
            <a:avLst>
              <a:gd name="adj" fmla="val 50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82354"/>
            <a:ext cx="3505200" cy="2045791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82354"/>
            <a:ext cx="3505200" cy="2045791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89969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96679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96679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87" y="3223319"/>
            <a:ext cx="1428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330029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0587" y="3330029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РАЗДЕЛ 02 • СИСТЕМНОЕ ПО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Настройка системных и офисных программ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699569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Лицензионный софт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080569"/>
            <a:ext cx="29718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Использование проверенных офисных приложений без вредоносных модификаций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806279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Автосохранение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187279"/>
            <a:ext cx="29718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Интервал автовосстановления документов каждые 5 минут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806279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Форматы файлов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187279"/>
            <a:ext cx="29718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Единые стандартные форматы данных для защиты совместимости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2457450"/>
            <a:ext cx="5257800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3486150"/>
            <a:ext cx="5257800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4514850"/>
            <a:ext cx="5257800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90750"/>
            <a:ext cx="5257800" cy="3429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676525"/>
            <a:ext cx="219075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705225"/>
            <a:ext cx="219075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4733925"/>
            <a:ext cx="219075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РАЗДЕЛ 03 • СЕТЕВАЯ БЕЗОПАСНОСТЬ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Эшелонированная защита и сетевой экран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2657475"/>
            <a:ext cx="5667375" cy="200025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Мониторинг 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914650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Активный фоновый анализ фоновых процессов и загрузок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686175"/>
            <a:ext cx="5667375" cy="200025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Сетевой экран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943350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Фильтрация трафика и блокировка несанкционированных портов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714875"/>
            <a:ext cx="5667375" cy="200025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Автообновление БД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972050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Ежедневное обновление антивирусных сигнатур угроз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52700"/>
            <a:ext cx="5334000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019550"/>
            <a:ext cx="5334000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286000"/>
            <a:ext cx="5334000" cy="3238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847975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314825"/>
            <a:ext cx="17145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РАЗДЕЛ 04 • АУТЕНТИФИКАЦИЯ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Контроль доступа и резервирование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828925"/>
            <a:ext cx="6275784" cy="228600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Сложные пароли и MFA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133725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Двухэтапная аутентификация для защиты учетных записей от взлома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295775"/>
            <a:ext cx="6275784" cy="2286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Правило 3-2-1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600575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Три копии данных на двух разных носителях с одним облачным хранилищем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09750" y="4119562"/>
            <a:ext cx="2705100" cy="781050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43450" y="4119562"/>
            <a:ext cx="2705100" cy="781050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77150" y="4119562"/>
            <a:ext cx="2705100" cy="781050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957387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2090737"/>
            <a:ext cx="238125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70459" y="2719387"/>
            <a:ext cx="8651081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F8FAFC"/>
                </a:solidFill>
                <a:latin typeface="Inter"/>
              </a:rPr>
              <a:t>Итоговый чек-лист безопасности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4125" y="3338512"/>
            <a:ext cx="7143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Inter"/>
              </a:rPr>
              <a:t>Готовность рабочей станции к защищенной профессиональной эксплуатации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9775" y="4319587"/>
            <a:ext cx="2881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Inter"/>
              </a:rPr>
              <a:t>✓ Драйверы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9775" y="4538662"/>
            <a:ext cx="2881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Inter"/>
              </a:rPr>
              <a:t>Официальные версии проверены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3475" y="4319587"/>
            <a:ext cx="2881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Inter"/>
              </a:rPr>
              <a:t>✓ Защита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3475" y="4538662"/>
            <a:ext cx="2881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Inter"/>
              </a:rPr>
              <a:t>Антивирус и брандмауэр активны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7175" y="4319587"/>
            <a:ext cx="2881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Inter"/>
              </a:rPr>
              <a:t>✓ Бэкап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7175" y="4538662"/>
            <a:ext cx="2881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Inter"/>
              </a:rPr>
              <a:t>Резервное копирование настроено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33650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33462"/>
            <a:ext cx="6060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https://scientechworld.com/wp-content/uploads/2023/05/Scientech-827DB-F.jpg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33487"/>
            <a:ext cx="2559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scientechworld.com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04987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https://img.magnific.com/premium-psd/3d-cybersecurity-firewall-protection-with-secure-network-shield_1169301-40462.jpg?semt=ais_hybrid&amp;w=740&amp;q=80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05012"/>
            <a:ext cx="2488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www.magnific.com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576512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https://www.networkworld.com/wp-content/uploads/2025/06/3999424-0-52824400-1748854961-backup-as-a-servuce.jpg?quality=50&amp;strip=all&amp;w=1024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776537"/>
            <a:ext cx="2952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www.networkworld.com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